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70" r:id="rId4"/>
    <p:sldId id="282" r:id="rId6"/>
    <p:sldId id="256" r:id="rId7"/>
    <p:sldId id="284" r:id="rId8"/>
    <p:sldId id="285" r:id="rId9"/>
    <p:sldId id="271" r:id="rId10"/>
    <p:sldId id="274" r:id="rId11"/>
    <p:sldId id="275" r:id="rId12"/>
    <p:sldId id="276" r:id="rId13"/>
    <p:sldId id="277" r:id="rId14"/>
    <p:sldId id="278" r:id="rId15"/>
    <p:sldId id="262" r:id="rId16"/>
    <p:sldId id="279" r:id="rId17"/>
    <p:sldId id="280" r:id="rId18"/>
    <p:sldId id="281" r:id="rId19"/>
    <p:sldId id="269" r:id="rId20"/>
    <p:sldId id="273" r:id="rId21"/>
    <p:sldId id="27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LifeFlow 项目完成汇报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 v0.0 · 2025-11-05 · 负责人：陈琨辉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将碎片信息 1 分钟内转化为可执行计划</a:t>
            </a:r>
            <a:endParaRPr lang="en-US" sz="2400" dirty="0"/>
          </a:p>
          <a:p>
            <a:pPr marL="0" indent="0">
              <a:buNone/>
            </a:pPr>
            <a:r>
              <a:rPr lang="en-US" sz="19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用于课程验收 / 团队协作 / 上线检查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项目标志（Logo）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LF 极简线条概念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概念：字母 LF 组成的极简流线，深浅双色寓意流动的效率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应用：导航栏、图标墙、硬件同步屏等多场景复用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延展：可搭配动态流线，突出信息流动感</a:t>
            </a:r>
            <a:endParaRPr lang="en-US" sz="1800" dirty="0"/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879475" y="3429000"/>
            <a:ext cx="3575685" cy="3145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4400" dirty="0"/>
              <a:t>成员分工和预期计划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822959" y="1450496"/>
          <a:ext cx="11038362" cy="4907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9454"/>
                <a:gridCol w="3679454"/>
                <a:gridCol w="3679454"/>
              </a:tblGrid>
              <a:tr h="798385">
                <a:tc>
                  <a:txBody>
                    <a:bodyPr/>
                    <a:lstStyle/>
                    <a:p>
                      <a:r>
                        <a:rPr lang="zh-CN" altLang="en-US" dirty="0"/>
                        <a:t>角色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负责内容</a:t>
                      </a:r>
                      <a:endParaRPr lang="zh-CN" altLang="en-US" dirty="0"/>
                    </a:p>
                  </a:txBody>
                  <a:tcPr/>
                </a:tc>
              </a:tr>
              <a:tr h="798385">
                <a:tc>
                  <a:txBody>
                    <a:bodyPr/>
                    <a:lstStyle/>
                    <a:p>
                      <a:r>
                        <a:rPr lang="en-US" altLang="zh-CN" dirty="0"/>
                        <a:t>PM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陈琨辉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后端功能实现、</a:t>
                      </a:r>
                      <a:r>
                        <a:rPr lang="en-US" altLang="zh-CN" dirty="0" err="1"/>
                        <a:t>api</a:t>
                      </a:r>
                      <a:r>
                        <a:rPr lang="zh-CN" altLang="en-US" dirty="0"/>
                        <a:t>设计</a:t>
                      </a:r>
                      <a:endParaRPr lang="zh-CN" altLang="en-US" dirty="0"/>
                    </a:p>
                  </a:txBody>
                  <a:tcPr/>
                </a:tc>
              </a:tr>
              <a:tr h="915249">
                <a:tc>
                  <a:txBody>
                    <a:bodyPr/>
                    <a:lstStyle/>
                    <a:p>
                      <a:r>
                        <a:rPr lang="zh-CN" altLang="en-US" dirty="0"/>
                        <a:t>前端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肖铭昊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前端</a:t>
                      </a:r>
                      <a:r>
                        <a:rPr lang="en-US" altLang="zh-CN" dirty="0" err="1"/>
                        <a:t>vue</a:t>
                      </a:r>
                      <a:r>
                        <a:rPr lang="zh-CN" altLang="en-US" dirty="0"/>
                        <a:t>设计、前端基本逻辑</a:t>
                      </a:r>
                      <a:endParaRPr lang="zh-CN" altLang="en-US" dirty="0"/>
                    </a:p>
                  </a:txBody>
                  <a:tcPr/>
                </a:tc>
              </a:tr>
              <a:tr h="798385"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吴同堃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用例、测试</a:t>
                      </a:r>
                      <a:endParaRPr lang="zh-CN" altLang="en-US" dirty="0"/>
                    </a:p>
                  </a:txBody>
                  <a:tcPr/>
                </a:tc>
              </a:tr>
              <a:tr h="798385">
                <a:tc>
                  <a:txBody>
                    <a:bodyPr/>
                    <a:lstStyle/>
                    <a:p>
                      <a:r>
                        <a:rPr lang="zh-CN" altLang="en-US" dirty="0"/>
                        <a:t>后端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王汉森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测试、前后端数据库对接</a:t>
                      </a:r>
                      <a:endParaRPr lang="zh-CN" altLang="en-US" dirty="0"/>
                    </a:p>
                  </a:txBody>
                  <a:tcPr/>
                </a:tc>
              </a:tr>
              <a:tr h="798385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数据库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 梅宇杰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数据库建立、运维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思维导图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能力总览</a:t>
            </a:r>
            <a:endParaRPr 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4545" y="854710"/>
            <a:ext cx="6566535" cy="5648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数据模型（类图）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476250" y="1417320"/>
            <a:ext cx="11209655" cy="50050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预期计划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文本框 8"/>
          <p:cNvSpPr txBox="1"/>
          <p:nvPr/>
        </p:nvSpPr>
        <p:spPr>
          <a:xfrm>
            <a:off x="579695" y="1417320"/>
            <a:ext cx="112643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阶段 </a:t>
            </a:r>
            <a:r>
              <a:rPr lang="en-US" altLang="zh-CN" b="1" dirty="0"/>
              <a:t>1</a:t>
            </a:r>
            <a:r>
              <a:rPr lang="zh-CN" altLang="en-US" b="1" dirty="0"/>
              <a:t>｜基础开发</a:t>
            </a:r>
            <a:endParaRPr lang="zh-CN" altLang="en-US" dirty="0"/>
          </a:p>
          <a:p>
            <a:pPr lvl="1"/>
            <a:r>
              <a:rPr lang="zh-CN" altLang="en-US" dirty="0"/>
              <a:t>目标：搭建核心骨架，确保“信息提要 → 任务化 → 会话输出”全链路可跑通。</a:t>
            </a:r>
            <a:endParaRPr lang="zh-CN" altLang="en-US" dirty="0"/>
          </a:p>
          <a:p>
            <a:pPr lvl="1"/>
            <a:r>
              <a:rPr lang="zh-CN" altLang="en-US" dirty="0"/>
              <a:t>内容：</a:t>
            </a:r>
            <a:endParaRPr lang="zh-CN" altLang="en-US" dirty="0"/>
          </a:p>
          <a:p>
            <a:pPr lvl="2"/>
            <a:r>
              <a:rPr lang="zh-CN" altLang="en-US" dirty="0"/>
              <a:t>前端完成会话区 </a:t>
            </a:r>
            <a:r>
              <a:rPr lang="en-US" altLang="zh-CN" dirty="0"/>
              <a:t>+ </a:t>
            </a:r>
            <a:r>
              <a:rPr lang="zh-CN" altLang="en-US" dirty="0"/>
              <a:t>计划板基础，后端完成 </a:t>
            </a:r>
            <a:r>
              <a:rPr lang="en-US" altLang="zh-CN" dirty="0"/>
              <a:t>Provider </a:t>
            </a:r>
            <a:r>
              <a:rPr lang="zh-CN" altLang="en-US" dirty="0"/>
              <a:t>路由、摘要</a:t>
            </a:r>
            <a:r>
              <a:rPr lang="en-US" altLang="zh-CN" dirty="0"/>
              <a:t>/</a:t>
            </a:r>
            <a:r>
              <a:rPr lang="zh-CN" altLang="en-US" dirty="0"/>
              <a:t>任务 </a:t>
            </a:r>
            <a:r>
              <a:rPr lang="en-US" altLang="zh-CN" dirty="0"/>
              <a:t>API</a:t>
            </a:r>
            <a:r>
              <a:rPr lang="zh-CN" altLang="en-US" dirty="0"/>
              <a:t>，</a:t>
            </a:r>
            <a:r>
              <a:rPr lang="en-US" altLang="zh-CN" dirty="0"/>
              <a:t>AI </a:t>
            </a:r>
            <a:r>
              <a:rPr lang="zh-CN" altLang="en-US" dirty="0"/>
              <a:t>输出主旨</a:t>
            </a:r>
            <a:r>
              <a:rPr lang="en-US" altLang="zh-CN" dirty="0"/>
              <a:t>+</a:t>
            </a:r>
            <a:r>
              <a:rPr lang="zh-CN" altLang="en-US" dirty="0"/>
              <a:t>要点</a:t>
            </a:r>
            <a:r>
              <a:rPr lang="en-US" altLang="zh-CN" dirty="0"/>
              <a:t>+</a:t>
            </a:r>
            <a:r>
              <a:rPr lang="zh-CN" altLang="en-US" dirty="0"/>
              <a:t>任务初版策略。</a:t>
            </a:r>
            <a:endParaRPr lang="zh-CN" altLang="en-US" dirty="0"/>
          </a:p>
          <a:p>
            <a:pPr lvl="2"/>
            <a:r>
              <a:rPr lang="zh-CN" altLang="en-US" dirty="0"/>
              <a:t>建立日志与鉴权框架，为后续联调做准备。</a:t>
            </a:r>
            <a:endParaRPr lang="zh-CN" altLang="en-US" dirty="0"/>
          </a:p>
          <a:p>
            <a:r>
              <a:rPr lang="zh-CN" altLang="en-US" b="1" dirty="0"/>
              <a:t>阶段 </a:t>
            </a:r>
            <a:r>
              <a:rPr lang="en-US" altLang="zh-CN" b="1" dirty="0"/>
              <a:t>2</a:t>
            </a:r>
            <a:r>
              <a:rPr lang="zh-CN" altLang="en-US" b="1" dirty="0"/>
              <a:t>｜各部分开发对接</a:t>
            </a:r>
            <a:endParaRPr lang="zh-CN" altLang="en-US" dirty="0"/>
          </a:p>
          <a:p>
            <a:pPr lvl="1"/>
            <a:r>
              <a:rPr lang="zh-CN" altLang="en-US" dirty="0"/>
              <a:t>目标：前后端、</a:t>
            </a:r>
            <a:r>
              <a:rPr lang="en-US" altLang="zh-CN" dirty="0"/>
              <a:t>AI</a:t>
            </a:r>
            <a:r>
              <a:rPr lang="zh-CN" altLang="en-US" dirty="0"/>
              <a:t>、硬件协同联调，补齐专注模式与隐私能力。</a:t>
            </a:r>
            <a:endParaRPr lang="zh-CN" altLang="en-US" dirty="0"/>
          </a:p>
          <a:p>
            <a:pPr lvl="1"/>
            <a:r>
              <a:rPr lang="zh-CN" altLang="en-US" dirty="0"/>
              <a:t>内容：</a:t>
            </a:r>
            <a:endParaRPr lang="zh-CN" altLang="en-US" dirty="0"/>
          </a:p>
          <a:p>
            <a:pPr lvl="2"/>
            <a:r>
              <a:rPr lang="zh-CN" altLang="en-US" dirty="0"/>
              <a:t>前端集成专注页、隐私模式提示、</a:t>
            </a:r>
            <a:r>
              <a:rPr lang="en-US" altLang="zh-CN" dirty="0"/>
              <a:t>DOD </a:t>
            </a:r>
            <a:r>
              <a:rPr lang="zh-CN" altLang="en-US" dirty="0"/>
              <a:t>勾选统计；后端完善会话管理、设备 </a:t>
            </a:r>
            <a:r>
              <a:rPr lang="en-US" altLang="zh-CN" dirty="0"/>
              <a:t>token</a:t>
            </a:r>
            <a:r>
              <a:rPr lang="zh-CN" altLang="en-US" dirty="0"/>
              <a:t>。</a:t>
            </a:r>
            <a:endParaRPr lang="zh-CN" altLang="en-US" dirty="0"/>
          </a:p>
          <a:p>
            <a:pPr lvl="2"/>
            <a:r>
              <a:rPr lang="en-US" altLang="zh-CN" dirty="0"/>
              <a:t>AI </a:t>
            </a:r>
            <a:r>
              <a:rPr lang="zh-CN" altLang="en-US" dirty="0"/>
              <a:t>调优性能（≥</a:t>
            </a:r>
            <a:r>
              <a:rPr lang="en-US" altLang="zh-CN" dirty="0"/>
              <a:t>10 </a:t>
            </a:r>
            <a:r>
              <a:rPr lang="zh-CN" altLang="en-US" dirty="0"/>
              <a:t>页文档 </a:t>
            </a:r>
            <a:r>
              <a:rPr lang="en-US" altLang="zh-CN" dirty="0"/>
              <a:t>60s </a:t>
            </a:r>
            <a:r>
              <a:rPr lang="zh-CN" altLang="en-US" dirty="0"/>
              <a:t>内）、补充置信度与依赖字段。</a:t>
            </a:r>
            <a:endParaRPr lang="zh-CN" altLang="en-US" dirty="0"/>
          </a:p>
          <a:p>
            <a:r>
              <a:rPr lang="zh-CN" altLang="en-US" b="1" dirty="0"/>
              <a:t>阶段 </a:t>
            </a:r>
            <a:r>
              <a:rPr lang="en-US" altLang="zh-CN" b="1" dirty="0"/>
              <a:t>3</a:t>
            </a:r>
            <a:r>
              <a:rPr lang="zh-CN" altLang="en-US" b="1" dirty="0"/>
              <a:t>｜测试与验收准备</a:t>
            </a:r>
            <a:endParaRPr lang="zh-CN" altLang="en-US" dirty="0"/>
          </a:p>
          <a:p>
            <a:pPr lvl="1"/>
            <a:r>
              <a:rPr lang="zh-CN" altLang="en-US" dirty="0"/>
              <a:t>目标：完成系统测试、整理汇报物料，具备课堂验收</a:t>
            </a:r>
            <a:r>
              <a:rPr lang="en-US" altLang="zh-CN" dirty="0"/>
              <a:t>/</a:t>
            </a:r>
            <a:r>
              <a:rPr lang="zh-CN" altLang="en-US" dirty="0"/>
              <a:t>演示条件。</a:t>
            </a:r>
            <a:endParaRPr lang="zh-CN" altLang="en-US" dirty="0"/>
          </a:p>
          <a:p>
            <a:pPr lvl="1"/>
            <a:r>
              <a:rPr lang="zh-CN" altLang="en-US" dirty="0"/>
              <a:t>内容：</a:t>
            </a:r>
            <a:endParaRPr lang="zh-CN" altLang="en-US" dirty="0"/>
          </a:p>
          <a:p>
            <a:pPr lvl="2"/>
            <a:r>
              <a:rPr lang="zh-CN" altLang="en-US" dirty="0"/>
              <a:t>测试团队执行功能</a:t>
            </a:r>
            <a:r>
              <a:rPr lang="en-US" altLang="zh-CN" dirty="0"/>
              <a:t>/</a:t>
            </a:r>
            <a:r>
              <a:rPr lang="zh-CN" altLang="en-US" dirty="0"/>
              <a:t>性能</a:t>
            </a:r>
            <a:r>
              <a:rPr lang="en-US" altLang="zh-CN" dirty="0"/>
              <a:t>/</a:t>
            </a:r>
            <a:r>
              <a:rPr lang="zh-CN" altLang="en-US" dirty="0"/>
              <a:t>隐私场景用例，记录日志与缺陷闭环。</a:t>
            </a:r>
            <a:endParaRPr lang="zh-CN" altLang="en-US" dirty="0"/>
          </a:p>
          <a:p>
            <a:pPr lvl="2"/>
            <a:r>
              <a:rPr lang="zh-CN" altLang="en-US" dirty="0"/>
              <a:t>输出：测试报告、演示素材、回滚与数据清理预案，确保“初步完成”状态可演示。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实际进度曲线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10" name="图片 9" descr="图表, 折线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148" y="1252174"/>
            <a:ext cx="11024641" cy="501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燃尽图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pic>
        <p:nvPicPr>
          <p:cNvPr id="10" name="图片 9" descr="图表, 折线图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147" y="1252174"/>
            <a:ext cx="11025226" cy="5011466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55" y="1252174"/>
            <a:ext cx="11024640" cy="501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遇到的问题以及解决方案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30945" y="1694843"/>
            <a:ext cx="1073011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Node </a:t>
            </a:r>
            <a:r>
              <a:rPr lang="zh-CN" altLang="en-US" dirty="0"/>
              <a:t>服务和 </a:t>
            </a:r>
            <a:r>
              <a:rPr lang="en-US" altLang="zh-CN" dirty="0" err="1"/>
              <a:t>FastAPI</a:t>
            </a:r>
            <a:r>
              <a:rPr lang="en-US" altLang="zh-CN" dirty="0"/>
              <a:t> </a:t>
            </a:r>
            <a:r>
              <a:rPr lang="zh-CN" altLang="en-US" dirty="0"/>
              <a:t>的版本依赖冲突，先锁定各自 </a:t>
            </a:r>
            <a:r>
              <a:rPr lang="en-US" altLang="zh-CN" dirty="0"/>
              <a:t>package-lock/requirements </a:t>
            </a:r>
            <a:r>
              <a:rPr lang="zh-CN" altLang="en-US" dirty="0"/>
              <a:t>再逐个升级，避免运行期崩溃。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路由权限没考虑多用户场景，导致任意 </a:t>
            </a:r>
            <a:r>
              <a:rPr lang="en-US" altLang="zh-CN" dirty="0" err="1"/>
              <a:t>user_id</a:t>
            </a:r>
            <a:r>
              <a:rPr lang="en-US" altLang="zh-CN" dirty="0"/>
              <a:t> </a:t>
            </a:r>
            <a:r>
              <a:rPr lang="zh-CN" altLang="en-US" dirty="0"/>
              <a:t>都能查别人的数据；补上鉴权中间件和 </a:t>
            </a:r>
            <a:r>
              <a:rPr lang="en-US" altLang="zh-CN" dirty="0" err="1"/>
              <a:t>user_scope</a:t>
            </a:r>
            <a:r>
              <a:rPr lang="en-US" altLang="zh-CN" dirty="0"/>
              <a:t> </a:t>
            </a:r>
            <a:r>
              <a:rPr lang="zh-CN" altLang="en-US" dirty="0"/>
              <a:t>校验后才放行。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文档里最初只有接口说明，没有示例，接入方常常不知道 </a:t>
            </a:r>
            <a:r>
              <a:rPr lang="en-US" altLang="zh-CN" dirty="0"/>
              <a:t>body</a:t>
            </a:r>
            <a:r>
              <a:rPr lang="zh-CN" altLang="en-US" dirty="0"/>
              <a:t>、</a:t>
            </a:r>
            <a:r>
              <a:rPr lang="en-US" altLang="zh-CN" dirty="0"/>
              <a:t>headers </a:t>
            </a:r>
            <a:r>
              <a:rPr lang="zh-CN" altLang="en-US" dirty="0"/>
              <a:t>怎么写。于是在 </a:t>
            </a:r>
            <a:r>
              <a:rPr lang="en-US" altLang="zh-CN" dirty="0"/>
              <a:t>API </a:t>
            </a:r>
            <a:r>
              <a:rPr lang="zh-CN" altLang="en-US" dirty="0"/>
              <a:t>文档新增了“快速上手”章节，给每条关键路由附上 </a:t>
            </a:r>
            <a:r>
              <a:rPr lang="en-US" altLang="zh-CN" dirty="0"/>
              <a:t>curl </a:t>
            </a:r>
            <a:r>
              <a:rPr lang="zh-CN" altLang="en-US" dirty="0"/>
              <a:t>调用示例，并用简短注释解释每个字段的含义，再把这些示例同步到 </a:t>
            </a:r>
            <a:r>
              <a:rPr lang="en-US" altLang="zh-CN" dirty="0"/>
              <a:t>README </a:t>
            </a:r>
            <a:r>
              <a:rPr lang="zh-CN" altLang="en-US" dirty="0"/>
              <a:t>描述里，现在大家照着命令复制就能调通。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前后端联调时最大痛点是字段约定不一致。我们先同步了最新的 </a:t>
            </a:r>
            <a:r>
              <a:rPr lang="en-US" altLang="zh-CN" dirty="0"/>
              <a:t>API </a:t>
            </a:r>
            <a:r>
              <a:rPr lang="zh-CN" altLang="en-US" dirty="0"/>
              <a:t>文档，列出新增</a:t>
            </a:r>
            <a:r>
              <a:rPr lang="en-US" altLang="zh-CN" dirty="0"/>
              <a:t>/</a:t>
            </a:r>
            <a:r>
              <a:rPr lang="zh-CN" altLang="en-US" dirty="0"/>
              <a:t>变动字段，再用浏览器抓包与后端日志对比请求、响应。前端按文档更新解析逻辑，后端也在响应里补注释和示例。对齐后双方数据格式统一，页面能正常渲染。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项目的实际架构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803910" y="1417320"/>
            <a:ext cx="7168515" cy="507301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架构与技术栈概述：</a:t>
            </a:r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 FastAPI 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负责核心业务：会话管理、摘要提取、任务生成、番茄钟、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对话；</a:t>
            </a:r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前端采用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vue.js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实现组件化</a:t>
            </a:r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Node.js Express + MySQL2 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负责用户、任务、消息与文件上传持久化。</a:t>
            </a:r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文件解析用 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pdfplumber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PyMuPDF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python-docx</a:t>
            </a:r>
            <a:endParaRPr lang="en-US" altLang="zh-CN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en-US" altLang="zh-CN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异步通信用 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httpx 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 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aiofiles</a:t>
            </a:r>
            <a:endParaRPr lang="en-US" altLang="zh-CN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en-US" altLang="zh-CN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安全与认证使用 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bcrypt / PyJWT</a:t>
            </a:r>
            <a:endParaRPr lang="en-US" altLang="zh-CN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en-US" altLang="zh-CN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统一响应与日志分层（应用</a:t>
            </a:r>
            <a:r>
              <a:rPr lang="en-US" altLang="zh-CN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/Provider/API</a:t>
            </a:r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任务生成支持用户确认导入</a:t>
            </a:r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项目的测试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8" name="文本框 7"/>
          <p:cNvSpPr txBox="1"/>
          <p:nvPr/>
        </p:nvSpPr>
        <p:spPr>
          <a:xfrm>
            <a:off x="640080" y="1874520"/>
            <a:ext cx="100497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功能用例：</a:t>
            </a:r>
            <a:r>
              <a:rPr lang="zh-CN" altLang="en-US" dirty="0"/>
              <a:t>人工走完“创建会话→上传</a:t>
            </a:r>
            <a:r>
              <a:rPr lang="en-US" altLang="zh-CN" dirty="0"/>
              <a:t>/</a:t>
            </a:r>
            <a:r>
              <a:rPr lang="zh-CN" altLang="en-US" dirty="0"/>
              <a:t>输入文本→生成摘要→生成任务→</a:t>
            </a:r>
            <a:r>
              <a:rPr lang="en-US" altLang="zh-CN" dirty="0"/>
              <a:t>DOD </a:t>
            </a:r>
            <a:r>
              <a:rPr lang="zh-CN" altLang="en-US" dirty="0"/>
              <a:t>勾选→专注模式→会话清理”全链路，覆盖正向</a:t>
            </a:r>
            <a:r>
              <a:rPr lang="en-US" altLang="zh-CN" dirty="0"/>
              <a:t>/</a:t>
            </a:r>
            <a:r>
              <a:rPr lang="zh-CN" altLang="en-US" dirty="0"/>
              <a:t>异常输入（缺字段、超长文本、无 </a:t>
            </a:r>
            <a:r>
              <a:rPr lang="en-US" altLang="zh-CN" dirty="0" err="1"/>
              <a:t>session_id</a:t>
            </a:r>
            <a:r>
              <a:rPr lang="en-US" altLang="zh-CN" dirty="0"/>
              <a:t> </a:t>
            </a:r>
            <a:r>
              <a:rPr lang="zh-CN" altLang="en-US" dirty="0"/>
              <a:t>等）。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性能用例：</a:t>
            </a:r>
            <a:r>
              <a:rPr lang="zh-CN" altLang="en-US" dirty="0"/>
              <a:t>准备 ≥</a:t>
            </a:r>
            <a:r>
              <a:rPr lang="en-US" altLang="zh-CN" dirty="0"/>
              <a:t>10 </a:t>
            </a:r>
            <a:r>
              <a:rPr lang="zh-CN" altLang="en-US" dirty="0"/>
              <a:t>页 </a:t>
            </a:r>
            <a:r>
              <a:rPr lang="en-US" altLang="zh-CN" dirty="0"/>
              <a:t>PDF/Doc</a:t>
            </a:r>
            <a:r>
              <a:rPr lang="zh-CN" altLang="en-US" dirty="0"/>
              <a:t>，观测 </a:t>
            </a:r>
            <a:r>
              <a:rPr lang="en-US" altLang="zh-CN" dirty="0"/>
              <a:t>AI </a:t>
            </a:r>
            <a:r>
              <a:rPr lang="zh-CN" altLang="en-US" dirty="0"/>
              <a:t>输出是否在 </a:t>
            </a:r>
            <a:r>
              <a:rPr lang="en-US" altLang="zh-CN" dirty="0"/>
              <a:t>60s </a:t>
            </a:r>
            <a:r>
              <a:rPr lang="zh-CN" altLang="en-US" dirty="0"/>
              <a:t>内完成；并模拟多用户并发创建</a:t>
            </a:r>
            <a:r>
              <a:rPr lang="en-US" altLang="zh-CN" dirty="0"/>
              <a:t>/</a:t>
            </a:r>
            <a:r>
              <a:rPr lang="zh-CN" altLang="en-US" dirty="0"/>
              <a:t>查询会话，确认 </a:t>
            </a:r>
            <a:r>
              <a:rPr lang="en-US" altLang="zh-CN" dirty="0"/>
              <a:t>Node/MySQL </a:t>
            </a:r>
            <a:r>
              <a:rPr lang="zh-CN" altLang="en-US" dirty="0"/>
              <a:t>连接池稳定。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隐私</a:t>
            </a:r>
            <a:r>
              <a:rPr lang="en-US" altLang="zh-CN" b="1" dirty="0"/>
              <a:t>/</a:t>
            </a:r>
            <a:r>
              <a:rPr lang="zh-CN" altLang="en-US" b="1" dirty="0"/>
              <a:t>安全用例：</a:t>
            </a:r>
            <a:r>
              <a:rPr lang="zh-CN" altLang="en-US" dirty="0"/>
              <a:t>验证隐私模式开关的前端提示、后端日志是否做脱敏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回归与验收准备：</a:t>
            </a:r>
            <a:r>
              <a:rPr lang="zh-CN" altLang="en-US" dirty="0"/>
              <a:t>把关键场景录屏或截图，准备课堂演示脚本，附上回滚和数据清理预案以备验收时需要复现。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 · 信息提要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6.1 信息提要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903470" cy="46564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必须：支持文本粘贴与 pdf/docx/txt 文件上传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应当：≥10 页文档 60s 内返回主旨 + ≥5 要点（含置信度）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验证：示例 12 页 PDF，60s 内输出主旨和要点并记录耗时</a:t>
            </a:r>
            <a:endParaRPr lang="en-US" sz="1800" dirty="0"/>
          </a:p>
        </p:txBody>
      </p:sp>
      <p:pic>
        <p:nvPicPr>
          <p:cNvPr id="9" name="图片 8" descr="ma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645" y="2194560"/>
            <a:ext cx="6094095" cy="3114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功能需求 · 任务化生成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6.2 任务化生成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903470" cy="46564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必须：依据要点生成任务（title/priority/deps/DOD）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应当：自动给出“今日三件事”和时间块（startAt/endAt）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验证：≥8 条要点 → ≥8 条任务，且 UI 与接口的 DOD 字段一致</a:t>
            </a:r>
            <a:endParaRPr lang="en-US" sz="1800" dirty="0"/>
          </a:p>
        </p:txBody>
      </p:sp>
      <p:pic>
        <p:nvPicPr>
          <p:cNvPr id="7" name="图片 6" descr="tas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785" y="2157730"/>
            <a:ext cx="6687185" cy="34169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功能需求 · 专注模式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6.3 番茄钟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903470" cy="46564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必须：25 分钟倒计时，结束提示（声音/弹窗）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可以：与设备同步专注进度（0–100%）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验证：Web 与设备在任一时刻偏差 ≤1%（60s 采样比对）</a:t>
            </a:r>
            <a:endParaRPr lang="en-US" sz="1800" dirty="0"/>
          </a:p>
        </p:txBody>
      </p:sp>
      <p:pic>
        <p:nvPicPr>
          <p:cNvPr id="9" name="图片 8" descr="clo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2103120"/>
            <a:ext cx="6204585" cy="3170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功能需求 · 会话与隐私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6.4 会话与隐私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4903470" cy="46564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必须：支持新会话与沿用会话切换，不落盘模式仅驻留内存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应当：一键清空会话并导出内容，操作前二次确认</a:t>
            </a:r>
            <a:endParaRPr lang="en-US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验证：不落盘模式刷新后数据清空，清空操作提供可逆提醒</a:t>
            </a:r>
            <a:endParaRPr lang="en-US" sz="18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075" y="2267585"/>
            <a:ext cx="6234430" cy="31857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验收标准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B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Given-When-Then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01：Given 10</a:t>
            </a:r>
            <a:r>
              <a:rPr lang="zh-CN" alt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</a:t>
            </a:r>
            <a:r>
              <a:rPr lang="en-US" altLang="zh-CN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word</a:t>
            </a: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，When 生成提要，Then ≤60s 输出主旨与 ≥5 要点</a:t>
            </a:r>
            <a:endParaRPr lang="en-US" sz="1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02：Given 要点列表，When 点击一键任务化，Then </a:t>
            </a:r>
            <a:r>
              <a:rPr lang="en-US" sz="1800" dirty="0" err="1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生成等量或更多任务且包含</a:t>
            </a:r>
            <a:r>
              <a:rPr lang="en-US" sz="1800" dirty="0">
                <a:solidFill>
                  <a:srgbClr val="1F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DOD</a:t>
            </a:r>
            <a:endParaRPr lang="en-US" sz="1800" dirty="0">
              <a:solidFill>
                <a:srgbClr val="1F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  <a:p>
            <a:pPr indent="0">
              <a:lnSpc>
                <a:spcPct val="125000"/>
              </a:lnSpc>
              <a:buSzPct val="100000"/>
              <a:buNone/>
            </a:pPr>
            <a:r>
              <a:rPr lang="zh-CN" altLang="en-US" sz="1800" dirty="0"/>
              <a:t>具体看演示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成员过程体会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文本框 6"/>
          <p:cNvSpPr txBox="1"/>
          <p:nvPr/>
        </p:nvSpPr>
        <p:spPr>
          <a:xfrm>
            <a:off x="798806" y="1325880"/>
            <a:ext cx="104431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陈琨辉（后端）：</a:t>
            </a:r>
            <a:endParaRPr lang="en-US" altLang="zh-CN" dirty="0"/>
          </a:p>
          <a:p>
            <a:r>
              <a:rPr lang="zh-CN" altLang="en-US" dirty="0"/>
              <a:t>这次在后端与 </a:t>
            </a:r>
            <a:r>
              <a:rPr lang="en-US" altLang="zh-CN" dirty="0"/>
              <a:t>API </a:t>
            </a:r>
            <a:r>
              <a:rPr lang="zh-CN" altLang="en-US" dirty="0"/>
              <a:t>设计的全过程里，我最大的体会是要先厘清业务边界，再动手写代码。起初我们面对数据库中间层与 </a:t>
            </a:r>
            <a:r>
              <a:rPr lang="en-US" altLang="zh-CN" dirty="0" err="1"/>
              <a:t>FastAPI</a:t>
            </a:r>
            <a:r>
              <a:rPr lang="en-US" altLang="zh-CN" dirty="0"/>
              <a:t> </a:t>
            </a:r>
            <a:r>
              <a:rPr lang="zh-CN" altLang="en-US" dirty="0"/>
              <a:t>主体的接口映射，需求不断调整，如果没有统一约定，很容易出现字段混乱或状态不同步。因此我反复梳理每条路由的入参、出参，搭建 </a:t>
            </a:r>
            <a:r>
              <a:rPr lang="en-US" altLang="zh-CN" dirty="0" err="1"/>
              <a:t>api</a:t>
            </a:r>
            <a:r>
              <a:rPr lang="en-US" altLang="zh-CN" dirty="0"/>
              <a:t> </a:t>
            </a:r>
            <a:r>
              <a:rPr lang="zh-CN" altLang="en-US" dirty="0"/>
              <a:t>文档，也和数据库同学一起对齐持久化规则。把数据流打通后，还花时间补充错误码、日志与超时策略，让运维同学能够快速定位问题。通过这轮项目，我对跨服务协作和 </a:t>
            </a:r>
            <a:r>
              <a:rPr lang="en-US" altLang="zh-CN" dirty="0"/>
              <a:t>API </a:t>
            </a:r>
            <a:r>
              <a:rPr lang="zh-CN" altLang="en-US" dirty="0"/>
              <a:t>生命周期管理有了更深的体会，也更相信“先设计、再实现”的价值。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肖铭昊（前端）：</a:t>
            </a:r>
            <a:endParaRPr lang="en-US" altLang="zh-CN" dirty="0"/>
          </a:p>
          <a:p>
            <a:r>
              <a:rPr lang="zh-CN" altLang="en-US" dirty="0"/>
              <a:t>在本次项目中，我负责前端部分的开发，包括 </a:t>
            </a:r>
            <a:r>
              <a:rPr lang="en-US" altLang="zh-CN" dirty="0"/>
              <a:t>Vue </a:t>
            </a:r>
            <a:r>
              <a:rPr lang="zh-CN" altLang="en-US" dirty="0"/>
              <a:t>页面设计和基本交互逻辑的实现。实践过程中，我加深了对组件化开发、数据绑定和路由管理的理解，并在不断调试中提升了处理组件通信、状态管理以及接口联调的能力。面对样式细节、数据渲染等问题，我也学会了更系统地排查与优化。总体而言，这次实践不仅提高了我的 </a:t>
            </a:r>
            <a:r>
              <a:rPr lang="en-US" altLang="zh-CN" dirty="0"/>
              <a:t>Vue </a:t>
            </a:r>
            <a:r>
              <a:rPr lang="zh-CN" altLang="en-US" dirty="0"/>
              <a:t>技术水平，也让我在实际项目中更好地理解了前端开发的流程与规范。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梅宇杰（数据库）：</a:t>
            </a:r>
            <a:endParaRPr lang="en-US" altLang="zh-CN" dirty="0"/>
          </a:p>
          <a:p>
            <a:r>
              <a:rPr lang="zh-CN" altLang="en-US" dirty="0"/>
              <a:t>这次负责数据库基础设施的搭建与运维，对我来说既是巩固经验也是查漏补缺的好机会。我们从最初的数据建模、表结构设计，到后续的权限与备份策略，都尽量按照生产级流程走一遍。尤其是中间件 </a:t>
            </a:r>
            <a:r>
              <a:rPr lang="en-US" altLang="zh-CN" dirty="0"/>
              <a:t>API </a:t>
            </a:r>
            <a:r>
              <a:rPr lang="zh-CN" altLang="en-US" dirty="0"/>
              <a:t>化那部分，牵涉到 </a:t>
            </a:r>
            <a:r>
              <a:rPr lang="en-US" altLang="zh-CN" dirty="0"/>
              <a:t>Node </a:t>
            </a:r>
            <a:r>
              <a:rPr lang="zh-CN" altLang="en-US" dirty="0"/>
              <a:t>与 </a:t>
            </a:r>
            <a:r>
              <a:rPr lang="en-US" altLang="zh-CN" dirty="0" err="1"/>
              <a:t>FastAPI</a:t>
            </a:r>
            <a:r>
              <a:rPr lang="en-US" altLang="zh-CN" dirty="0"/>
              <a:t> </a:t>
            </a:r>
            <a:r>
              <a:rPr lang="zh-CN" altLang="en-US" dirty="0"/>
              <a:t>双栈协同，调试阶段踩过不少坑：接口参数约定要保持一致，</a:t>
            </a:r>
            <a:r>
              <a:rPr lang="en-US" altLang="zh-CN" dirty="0"/>
              <a:t>MySQL </a:t>
            </a:r>
            <a:r>
              <a:rPr lang="zh-CN" altLang="en-US" dirty="0"/>
              <a:t>的连接池要调优，跨服务的错误处理也要统一。每修好一个故障，就能更熟悉业务链路，也更清楚如何让数据库层在整个系统里真正发挥稳定“地基”的作用。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14263C"/>
          </a:solidFill>
          <a:ln w="12700">
            <a:solidFill>
              <a:srgbClr val="1426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2188952" cy="7315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426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成员过程体会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79695" y="1417320"/>
            <a:ext cx="1088136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文本框 6"/>
          <p:cNvSpPr txBox="1"/>
          <p:nvPr/>
        </p:nvSpPr>
        <p:spPr>
          <a:xfrm>
            <a:off x="798806" y="1378932"/>
            <a:ext cx="10443138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吴同堃（测试、后端）：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 err="1"/>
              <a:t>LifeFlow</a:t>
            </a:r>
            <a:r>
              <a:rPr lang="zh-CN" altLang="en-US" dirty="0"/>
              <a:t>项目后端用例设计与测试工作中，我全程聚焦接口可靠性与功能合规性。从梳理信息提要、任务生成等核心接口的用例场景，到针对性设计</a:t>
            </a:r>
            <a:r>
              <a:rPr lang="en-US" altLang="zh-CN" dirty="0"/>
              <a:t>PDF</a:t>
            </a:r>
            <a:r>
              <a:rPr lang="zh-CN" altLang="en-US" dirty="0"/>
              <a:t>解析、多要点任务生成等验证用例，每一步都紧扣需求文档。测试阶段通过模拟前端请求、联调硬件同步接口，精准定位了接口耗时优化、数据脱敏等问题。过程中深刻体会到，严谨的用例设计是保障服务稳定的基础，而多场景联调能提前规避集成风险，也让我更清晰后端服务与前后端、硬件联动的核心逻辑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王汉森（测试、前后端数据库对接）：</a:t>
            </a:r>
            <a:endParaRPr lang="en-US" altLang="zh-CN" dirty="0"/>
          </a:p>
          <a:p>
            <a:r>
              <a:rPr lang="zh-CN" altLang="en-US" dirty="0"/>
              <a:t>测试、数据库与前后端对接是项目稳定的三大基石。测试不仅是找</a:t>
            </a:r>
            <a:r>
              <a:rPr lang="en-US" altLang="zh-CN" dirty="0"/>
              <a:t>Bug</a:t>
            </a:r>
            <a:r>
              <a:rPr lang="zh-CN" altLang="en-US" dirty="0"/>
              <a:t>，更是一种保障逻辑严谨性的设计思维，能极大提升后期迭代的信心。数据库设计需高瞻远瞩，合理的表结构与索引是性能的根本，宁可在设计上多花一小时，也别在优化上浪费一整天。前后端对接的核心在于</a:t>
            </a:r>
            <a:r>
              <a:rPr lang="en-US" altLang="zh-CN" dirty="0"/>
              <a:t>“</a:t>
            </a:r>
            <a:r>
              <a:rPr lang="zh-CN" altLang="en-US" dirty="0"/>
              <a:t>约定大于沟通</a:t>
            </a:r>
            <a:r>
              <a:rPr lang="en-US" altLang="zh-CN" dirty="0"/>
              <a:t>”</a:t>
            </a:r>
            <a:r>
              <a:rPr lang="zh-CN" altLang="en-US" dirty="0"/>
              <a:t>，一份清晰规范的</a:t>
            </a:r>
            <a:r>
              <a:rPr lang="en-US" altLang="zh-CN" dirty="0"/>
              <a:t>API</a:t>
            </a:r>
            <a:r>
              <a:rPr lang="zh-CN" altLang="en-US" dirty="0"/>
              <a:t>文档就是最好的合同，能有效避免联调时的互相</a:t>
            </a:r>
            <a:r>
              <a:rPr lang="en-US" altLang="zh-CN" dirty="0"/>
              <a:t>“</a:t>
            </a:r>
            <a:r>
              <a:rPr lang="zh-CN" altLang="en-US" dirty="0"/>
              <a:t>甩锅</a:t>
            </a:r>
            <a:r>
              <a:rPr lang="en-US" altLang="zh-CN" dirty="0"/>
              <a:t>”</a:t>
            </a:r>
            <a:r>
              <a:rPr lang="zh-CN" altLang="en-US" dirty="0"/>
              <a:t>。三者相辅相成，共同决定了项目的质量、效率和可维护性。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3202</Words>
  <Application>WPS 演示</Application>
  <PresentationFormat>宽屏</PresentationFormat>
  <Paragraphs>185</Paragraphs>
  <Slides>18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LifeFlow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LifeFlow 项目完成汇报模板</dc:title>
  <dc:creator>LifeFlow 团队</dc:creator>
  <dc:subject>LifeFlow SRS v0.0</dc:subject>
  <cp:lastModifiedBy>痴安</cp:lastModifiedBy>
  <cp:revision>73</cp:revision>
  <dcterms:created xsi:type="dcterms:W3CDTF">2025-11-28T12:48:00Z</dcterms:created>
  <dcterms:modified xsi:type="dcterms:W3CDTF">2025-12-03T02:12:06Z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B20800FFA1D64910B867E22E27609225_13</vt:lpwstr>
  </property>
  <property fmtid="{D5CDD505-2E9C-101B-9397-08002B2CF9AE}" pid="3" name="KSOProductBuildVer">
    <vt:lpwstr>2052-12.1.0.23542</vt:lpwstr>
  </property>
</Properties>
</file>